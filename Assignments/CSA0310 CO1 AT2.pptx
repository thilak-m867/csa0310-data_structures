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  <p:sldMasterId id="2147483707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 /><Relationship Id="rId13" Type="http://schemas.openxmlformats.org/officeDocument/2006/relationships/slide" Target="slides/slide10.xml" /><Relationship Id="rId18" Type="http://schemas.openxmlformats.org/officeDocument/2006/relationships/tableStyles" Target="tableStyles.xml" /><Relationship Id="rId3" Type="http://schemas.openxmlformats.org/officeDocument/2006/relationships/slideMaster" Target="slideMasters/slideMaster3.xml" /><Relationship Id="rId7" Type="http://schemas.openxmlformats.org/officeDocument/2006/relationships/slide" Target="slides/slide4.xml" /><Relationship Id="rId12" Type="http://schemas.openxmlformats.org/officeDocument/2006/relationships/slide" Target="slides/slide9.xml" /><Relationship Id="rId17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3.xml" /><Relationship Id="rId11" Type="http://schemas.openxmlformats.org/officeDocument/2006/relationships/slide" Target="slides/slide8.xml" /><Relationship Id="rId5" Type="http://schemas.openxmlformats.org/officeDocument/2006/relationships/slide" Target="slides/slide2.xml" /><Relationship Id="rId15" Type="http://schemas.openxmlformats.org/officeDocument/2006/relationships/presProps" Target="presProps.xml" /><Relationship Id="rId10" Type="http://schemas.openxmlformats.org/officeDocument/2006/relationships/slide" Target="slides/slide7.xml" /><Relationship Id="rId4" Type="http://schemas.openxmlformats.org/officeDocument/2006/relationships/slide" Target="slides/slide1.xml" /><Relationship Id="rId9" Type="http://schemas.openxmlformats.org/officeDocument/2006/relationships/slide" Target="slides/slide6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8DEE6-DE17-4750-8D94-1E98659B9D0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7C965-94C6-4908-A6BC-A38F034B9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22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" TargetMode="External" /><Relationship Id="rId2" Type="http://schemas.openxmlformats.org/officeDocument/2006/relationships/image" Target="../media/image25.png" /><Relationship Id="rId1" Type="http://schemas.openxmlformats.org/officeDocument/2006/relationships/slideMaster" Target="../slideMasters/slideMaster1.xml" /><Relationship Id="rId5" Type="http://schemas.openxmlformats.org/officeDocument/2006/relationships/hyperlink" Target="https://www.freepik.com/" TargetMode="External" /><Relationship Id="rId4" Type="http://schemas.openxmlformats.org/officeDocument/2006/relationships/hyperlink" Target="https://www.flaticon.com/" TargetMode="Externa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12191999" cy="68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584967" y="1293600"/>
            <a:ext cx="6083200" cy="32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867" b="1"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85223" y="4507600"/>
            <a:ext cx="60832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Oxygen"/>
                <a:ea typeface="Oxygen"/>
                <a:cs typeface="Oxygen"/>
                <a:sym typeface="Oxyge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483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797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852009" y="3123500"/>
            <a:ext cx="4380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6851867" y="1474900"/>
            <a:ext cx="4380000" cy="16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6852001" y="4431933"/>
            <a:ext cx="43800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857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●"/>
              <a:defRPr sz="1867">
                <a:latin typeface="Oxygen"/>
                <a:ea typeface="Oxygen"/>
                <a:cs typeface="Oxygen"/>
                <a:sym typeface="Oxygen"/>
              </a:defRPr>
            </a:lvl1pPr>
            <a:lvl2pPr marL="1219170" lvl="1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81BB66-375F-5BC9-900F-25BBD0E5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09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938400" y="3321800"/>
            <a:ext cx="4658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667" b="1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6551467" y="3321800"/>
            <a:ext cx="46804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667" b="1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938400" y="4001567"/>
            <a:ext cx="46588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6551467" y="4001567"/>
            <a:ext cx="46804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800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054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1530467" y="1828233"/>
            <a:ext cx="9131200" cy="11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3244000" y="3255233"/>
            <a:ext cx="5704000" cy="1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108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850800" y="2257400"/>
            <a:ext cx="8490400" cy="23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333" b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475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950367" y="1773400"/>
            <a:ext cx="8291200" cy="21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1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3700800" y="4133433"/>
            <a:ext cx="47904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3240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/>
          <p:cNvPicPr preferRelativeResize="0"/>
          <p:nvPr/>
        </p:nvPicPr>
        <p:blipFill rotWithShape="1">
          <a:blip r:embed="rId2">
            <a:alphaModFix/>
          </a:blip>
          <a:srcRect l="56624" b="10"/>
          <a:stretch/>
        </p:blipFill>
        <p:spPr>
          <a:xfrm>
            <a:off x="6903767" y="0"/>
            <a:ext cx="5288239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6375400" y="1888600"/>
            <a:ext cx="4856800" cy="24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ubTitle" idx="1"/>
          </p:nvPr>
        </p:nvSpPr>
        <p:spPr>
          <a:xfrm>
            <a:off x="7270400" y="4368600"/>
            <a:ext cx="3961600" cy="1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1053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077967"/>
            <a:ext cx="8768000" cy="20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712000" y="4092833"/>
            <a:ext cx="87680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501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648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960000" y="3739251"/>
            <a:ext cx="3115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2119368"/>
            <a:ext cx="31152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960000" y="4236147"/>
            <a:ext cx="3115200" cy="1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3"/>
          </p:nvPr>
        </p:nvSpPr>
        <p:spPr>
          <a:xfrm>
            <a:off x="4538400" y="3739251"/>
            <a:ext cx="3115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4" hasCustomPrompt="1"/>
          </p:nvPr>
        </p:nvSpPr>
        <p:spPr>
          <a:xfrm>
            <a:off x="4538400" y="2119368"/>
            <a:ext cx="31152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5"/>
          </p:nvPr>
        </p:nvSpPr>
        <p:spPr>
          <a:xfrm>
            <a:off x="4538400" y="4236147"/>
            <a:ext cx="3115200" cy="1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/>
          </p:nvPr>
        </p:nvSpPr>
        <p:spPr>
          <a:xfrm>
            <a:off x="8116800" y="3739251"/>
            <a:ext cx="3115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7" hasCustomPrompt="1"/>
          </p:nvPr>
        </p:nvSpPr>
        <p:spPr>
          <a:xfrm>
            <a:off x="8116800" y="2119368"/>
            <a:ext cx="3115200" cy="7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8116800" y="4236147"/>
            <a:ext cx="3115200" cy="1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044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798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960000" y="914133"/>
            <a:ext cx="5614800" cy="4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5467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4004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960000" y="1936767"/>
            <a:ext cx="6296000" cy="3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6376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053367" y="4471300"/>
            <a:ext cx="60852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1939600" y="2736633"/>
            <a:ext cx="8312800" cy="1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3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414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1410600" y="4919467"/>
            <a:ext cx="3714400" cy="12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7034467" y="4919467"/>
            <a:ext cx="3714400" cy="12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1410400" y="4171467"/>
            <a:ext cx="37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667" b="1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4"/>
          </p:nvPr>
        </p:nvSpPr>
        <p:spPr>
          <a:xfrm>
            <a:off x="7034467" y="4171467"/>
            <a:ext cx="37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667" b="1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9009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 idx="2"/>
          </p:nvPr>
        </p:nvSpPr>
        <p:spPr>
          <a:xfrm>
            <a:off x="960000" y="3931384"/>
            <a:ext cx="3115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1"/>
          </p:nvPr>
        </p:nvSpPr>
        <p:spPr>
          <a:xfrm>
            <a:off x="960000" y="4420367"/>
            <a:ext cx="31152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 idx="3"/>
          </p:nvPr>
        </p:nvSpPr>
        <p:spPr>
          <a:xfrm>
            <a:off x="4538400" y="3931384"/>
            <a:ext cx="3115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4"/>
          </p:nvPr>
        </p:nvSpPr>
        <p:spPr>
          <a:xfrm>
            <a:off x="4538400" y="4420367"/>
            <a:ext cx="31152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 idx="5"/>
          </p:nvPr>
        </p:nvSpPr>
        <p:spPr>
          <a:xfrm>
            <a:off x="8116800" y="3931384"/>
            <a:ext cx="3115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6"/>
          </p:nvPr>
        </p:nvSpPr>
        <p:spPr>
          <a:xfrm>
            <a:off x="8116800" y="4420367"/>
            <a:ext cx="3115200" cy="1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2062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 idx="2"/>
          </p:nvPr>
        </p:nvSpPr>
        <p:spPr>
          <a:xfrm>
            <a:off x="2415271" y="1972567"/>
            <a:ext cx="3306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2415271" y="2469000"/>
            <a:ext cx="330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title" idx="3"/>
          </p:nvPr>
        </p:nvSpPr>
        <p:spPr>
          <a:xfrm>
            <a:off x="7666000" y="1972567"/>
            <a:ext cx="3306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4"/>
          </p:nvPr>
        </p:nvSpPr>
        <p:spPr>
          <a:xfrm>
            <a:off x="7666000" y="2469003"/>
            <a:ext cx="3306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 idx="5"/>
          </p:nvPr>
        </p:nvSpPr>
        <p:spPr>
          <a:xfrm>
            <a:off x="2415267" y="4122167"/>
            <a:ext cx="3306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6"/>
          </p:nvPr>
        </p:nvSpPr>
        <p:spPr>
          <a:xfrm>
            <a:off x="2415267" y="4618600"/>
            <a:ext cx="3306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 idx="7"/>
          </p:nvPr>
        </p:nvSpPr>
        <p:spPr>
          <a:xfrm>
            <a:off x="7666000" y="4122164"/>
            <a:ext cx="3306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8"/>
          </p:nvPr>
        </p:nvSpPr>
        <p:spPr>
          <a:xfrm>
            <a:off x="7666000" y="4618600"/>
            <a:ext cx="3306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6743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b="10"/>
          <a:stretch/>
        </p:blipFill>
        <p:spPr>
          <a:xfrm>
            <a:off x="1" y="0"/>
            <a:ext cx="12191999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 idx="2"/>
          </p:nvPr>
        </p:nvSpPr>
        <p:spPr>
          <a:xfrm>
            <a:off x="1051400" y="2508416"/>
            <a:ext cx="3074000" cy="5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960017" y="2924233"/>
            <a:ext cx="325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title" idx="3"/>
          </p:nvPr>
        </p:nvSpPr>
        <p:spPr>
          <a:xfrm>
            <a:off x="4559000" y="2508416"/>
            <a:ext cx="3074000" cy="5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4442616" y="2924233"/>
            <a:ext cx="330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title" idx="5"/>
          </p:nvPr>
        </p:nvSpPr>
        <p:spPr>
          <a:xfrm>
            <a:off x="1051400" y="4999449"/>
            <a:ext cx="3074000" cy="5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960000" y="5415133"/>
            <a:ext cx="325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title" idx="7"/>
          </p:nvPr>
        </p:nvSpPr>
        <p:spPr>
          <a:xfrm>
            <a:off x="4559000" y="4999449"/>
            <a:ext cx="3074000" cy="5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8"/>
          </p:nvPr>
        </p:nvSpPr>
        <p:spPr>
          <a:xfrm>
            <a:off x="4442600" y="5415133"/>
            <a:ext cx="330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 idx="9"/>
          </p:nvPr>
        </p:nvSpPr>
        <p:spPr>
          <a:xfrm>
            <a:off x="8066565" y="2508416"/>
            <a:ext cx="3074000" cy="5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3"/>
          </p:nvPr>
        </p:nvSpPr>
        <p:spPr>
          <a:xfrm>
            <a:off x="7975183" y="2924233"/>
            <a:ext cx="325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title" idx="14"/>
          </p:nvPr>
        </p:nvSpPr>
        <p:spPr>
          <a:xfrm>
            <a:off x="8066565" y="4999449"/>
            <a:ext cx="3074000" cy="5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15"/>
          </p:nvPr>
        </p:nvSpPr>
        <p:spPr>
          <a:xfrm>
            <a:off x="7975165" y="5415133"/>
            <a:ext cx="325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0916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>
            <a:spLocks noGrp="1"/>
          </p:cNvSpPr>
          <p:nvPr>
            <p:ph type="subTitle" idx="1"/>
          </p:nvPr>
        </p:nvSpPr>
        <p:spPr>
          <a:xfrm>
            <a:off x="2346400" y="2675667"/>
            <a:ext cx="3546400" cy="2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xygen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169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1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>
            <a:spLocks noGrp="1"/>
          </p:cNvSpPr>
          <p:nvPr>
            <p:ph type="subTitle" idx="1"/>
          </p:nvPr>
        </p:nvSpPr>
        <p:spPr>
          <a:xfrm>
            <a:off x="5708833" y="2675667"/>
            <a:ext cx="3546400" cy="2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xygen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522356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subTitle" idx="1"/>
          </p:nvPr>
        </p:nvSpPr>
        <p:spPr>
          <a:xfrm>
            <a:off x="2346400" y="2675667"/>
            <a:ext cx="3546400" cy="2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xygen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61852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1_Title and text 3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1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>
            <a:spLocks noGrp="1"/>
          </p:cNvSpPr>
          <p:nvPr>
            <p:ph type="subTitle" idx="1"/>
          </p:nvPr>
        </p:nvSpPr>
        <p:spPr>
          <a:xfrm>
            <a:off x="960000" y="1936767"/>
            <a:ext cx="5724400" cy="3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2" name="Google Shape;132;p24"/>
          <p:cNvSpPr>
            <a:spLocks noGrp="1"/>
          </p:cNvSpPr>
          <p:nvPr>
            <p:ph type="pic" idx="2"/>
          </p:nvPr>
        </p:nvSpPr>
        <p:spPr>
          <a:xfrm>
            <a:off x="7112000" y="1936767"/>
            <a:ext cx="4120000" cy="41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3366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" y="0"/>
            <a:ext cx="121920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50614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>
            <a:spLocks noGrp="1"/>
          </p:cNvSpPr>
          <p:nvPr>
            <p:ph type="title" hasCustomPrompt="1"/>
          </p:nvPr>
        </p:nvSpPr>
        <p:spPr>
          <a:xfrm>
            <a:off x="1712000" y="720000"/>
            <a:ext cx="876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39" name="Google Shape;139;p26"/>
          <p:cNvSpPr txBox="1">
            <a:spLocks noGrp="1"/>
          </p:cNvSpPr>
          <p:nvPr>
            <p:ph type="subTitle" idx="1"/>
          </p:nvPr>
        </p:nvSpPr>
        <p:spPr>
          <a:xfrm>
            <a:off x="1712000" y="1661367"/>
            <a:ext cx="8768000" cy="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title" idx="2" hasCustomPrompt="1"/>
          </p:nvPr>
        </p:nvSpPr>
        <p:spPr>
          <a:xfrm>
            <a:off x="1712000" y="2661517"/>
            <a:ext cx="876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41" name="Google Shape;141;p26"/>
          <p:cNvSpPr txBox="1">
            <a:spLocks noGrp="1"/>
          </p:cNvSpPr>
          <p:nvPr>
            <p:ph type="subTitle" idx="3"/>
          </p:nvPr>
        </p:nvSpPr>
        <p:spPr>
          <a:xfrm>
            <a:off x="1712000" y="3602884"/>
            <a:ext cx="8768000" cy="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title" idx="4" hasCustomPrompt="1"/>
          </p:nvPr>
        </p:nvSpPr>
        <p:spPr>
          <a:xfrm>
            <a:off x="1712000" y="4603051"/>
            <a:ext cx="876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143" name="Google Shape;143;p26"/>
          <p:cNvSpPr txBox="1">
            <a:spLocks noGrp="1"/>
          </p:cNvSpPr>
          <p:nvPr>
            <p:ph type="subTitle" idx="5"/>
          </p:nvPr>
        </p:nvSpPr>
        <p:spPr>
          <a:xfrm>
            <a:off x="1712000" y="5544417"/>
            <a:ext cx="8768000" cy="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05874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" y="1"/>
            <a:ext cx="12192000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960128" y="3123500"/>
            <a:ext cx="7030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1474900"/>
            <a:ext cx="4380000" cy="16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48" name="Google Shape;148;p27"/>
          <p:cNvSpPr txBox="1">
            <a:spLocks noGrp="1"/>
          </p:cNvSpPr>
          <p:nvPr>
            <p:ph type="subTitle" idx="1"/>
          </p:nvPr>
        </p:nvSpPr>
        <p:spPr>
          <a:xfrm>
            <a:off x="960135" y="4431933"/>
            <a:ext cx="43800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66035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1565467" y="3123500"/>
            <a:ext cx="90612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title" idx="2" hasCustomPrompt="1"/>
          </p:nvPr>
        </p:nvSpPr>
        <p:spPr>
          <a:xfrm>
            <a:off x="3906000" y="1474900"/>
            <a:ext cx="4380000" cy="16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53" name="Google Shape;153;p28"/>
          <p:cNvSpPr txBox="1">
            <a:spLocks noGrp="1"/>
          </p:cNvSpPr>
          <p:nvPr>
            <p:ph type="subTitle" idx="1"/>
          </p:nvPr>
        </p:nvSpPr>
        <p:spPr>
          <a:xfrm>
            <a:off x="3906000" y="4431933"/>
            <a:ext cx="43800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61780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"/>
            <a:ext cx="12192000" cy="685798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 txBox="1">
            <a:spLocks noGrp="1"/>
          </p:cNvSpPr>
          <p:nvPr>
            <p:ph type="ctrTitle"/>
          </p:nvPr>
        </p:nvSpPr>
        <p:spPr>
          <a:xfrm>
            <a:off x="5462367" y="720133"/>
            <a:ext cx="5767600" cy="13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subTitle" idx="1"/>
          </p:nvPr>
        </p:nvSpPr>
        <p:spPr>
          <a:xfrm>
            <a:off x="5462367" y="2032133"/>
            <a:ext cx="5767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5878767" y="4183467"/>
            <a:ext cx="4934800" cy="1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CREDITS: This presentation template was created by </a:t>
            </a:r>
            <a:r>
              <a:rPr lang="en" sz="2400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2400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, including icons by </a:t>
            </a:r>
            <a:r>
              <a:rPr lang="en" sz="2400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2400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, infographics &amp; images by</a:t>
            </a:r>
            <a:r>
              <a:rPr lang="en" sz="2400">
                <a:solidFill>
                  <a:schemeClr val="lt2"/>
                </a:solidFill>
                <a:uFill>
                  <a:noFill/>
                </a:uFill>
                <a:latin typeface="Oxygen"/>
                <a:ea typeface="Oxygen"/>
                <a:cs typeface="Oxygen"/>
                <a:sym typeface="Oxyge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2400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2400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.</a:t>
            </a:r>
            <a:endParaRPr sz="2400">
              <a:solidFill>
                <a:schemeClr val="lt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  <p:extLst>
      <p:ext uri="{BB962C8B-B14F-4D97-AF65-F5344CB8AC3E}">
        <p14:creationId xmlns:p14="http://schemas.microsoft.com/office/powerpoint/2010/main" val="18289869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1601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40709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26946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224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35CB-0D97-282F-E005-A4B9C8E64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860E1-5B5B-0AE0-BCFE-43637F4C5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36049-597F-9B14-67D3-7C16AD39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8CB7E-0A0F-5DF7-2052-54C61991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F899B-BB62-E084-0878-B89D0530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974855"/>
      </p:ext>
    </p:extLst>
  </p:cSld>
  <p:clrMapOvr>
    <a:masterClrMapping/>
  </p:clrMapOvr>
  <p:hf sldNum="0"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00C1-5AE1-E3FD-984D-85357CA2B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7CF37-EDB8-1A3A-3BD0-48261AC53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F6E7-97B1-E00E-1C87-AF9A6D0F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59A0C-FCFE-D88A-746C-CB6F90BD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E41-7E00-784A-09AE-B18AC90E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60826"/>
      </p:ext>
    </p:extLst>
  </p:cSld>
  <p:clrMapOvr>
    <a:masterClrMapping/>
  </p:clrMapOvr>
  <p:hf sldNum="0"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AAAB-17F6-FB89-9499-6469AA82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2C054-3ED8-10D8-840B-9DE18E696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9C0A4-222D-C390-90A5-5A3D5D89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475FC-8846-E2AD-51C9-7291504B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B3A37-0846-814D-4F87-65609DE9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870105"/>
      </p:ext>
    </p:extLst>
  </p:cSld>
  <p:clrMapOvr>
    <a:masterClrMapping/>
  </p:clrMapOvr>
  <p:hf sldNum="0"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0B2B-54A5-7B6C-9609-728F85CE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C2E4A-1346-AF45-4186-4C59E5A02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A4680-F3E0-5124-61B3-5D7AA7573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BFFD6-6883-1D7B-8BE8-5E7AAF87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B09E-73DF-A1E1-B378-6BC003F8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78801-2244-D89C-5F9F-7B20DBDC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661010"/>
      </p:ext>
    </p:extLst>
  </p:cSld>
  <p:clrMapOvr>
    <a:masterClrMapping/>
  </p:clrMapOvr>
  <p:hf sldNum="0"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5038-06D1-1E16-4D3C-3770E4E0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4520B-6C9F-9D77-7AB2-93172B68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B3F61-87BA-7389-4F01-BA497A34F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A8DBF-0E86-4779-81F3-F4354F1E4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D0AD4-07B1-B768-A4AC-6581AFC37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FE3DAA-3054-4095-E49B-8B1F0E91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CABBB-DC4A-EFE9-436D-FD095537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92FEF-DC62-AAEF-F7B8-61380335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04775"/>
      </p:ext>
    </p:extLst>
  </p:cSld>
  <p:clrMapOvr>
    <a:masterClrMapping/>
  </p:clrMapOvr>
  <p:hf sldNum="0"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C921-214C-686F-3F4A-682348A0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268FB-A275-4F5C-9123-D0AFA5EB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F18B3-D9D2-E85E-C672-E283EB51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99C72-BFAD-20EF-2F30-C7FC4750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047482"/>
      </p:ext>
    </p:extLst>
  </p:cSld>
  <p:clrMapOvr>
    <a:masterClrMapping/>
  </p:clrMapOvr>
  <p:hf sldNum="0"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22F8E-DD63-D768-C179-1E7129DA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1CA23-7E35-6F87-4CEC-279A35BD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54CCD-17A3-B654-6976-46FFF419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5690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67967-A519-72A6-31D4-4D446EF68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1B8E-E799-88FC-B3DC-CDCA48493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40646-BE7D-3419-0F03-E75EADD76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8C817-A2F1-C66B-C36A-297B4EC1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F20E1-0C74-F952-6BBC-34A9BC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37AF4-75CE-995B-8AD7-821E4832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15788"/>
      </p:ext>
    </p:extLst>
  </p:cSld>
  <p:clrMapOvr>
    <a:masterClrMapping/>
  </p:clrMapOvr>
  <p:hf sldNum="0" hd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E614-285E-E1C8-093E-BD1BECFF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6B639B-9499-CDD7-CE76-0A5F3EDB0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7F8F3-B705-A8F8-81C6-026144A76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90167-C18B-BAD9-981D-0BB5B57F4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69EE4-FFB2-7352-54C1-00948ABA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AFF72-E589-72A4-56A4-0A2DCCAC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902316"/>
      </p:ext>
    </p:extLst>
  </p:cSld>
  <p:clrMapOvr>
    <a:masterClrMapping/>
  </p:clrMapOvr>
  <p:hf sldNum="0" hd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E0AC-7368-F18B-666E-29F2BE96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032BA-0CF8-94F7-4F0C-079ECFC4F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10B10-AAA8-417A-B842-745CD424D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C1B79-63FA-42D2-DECC-CD31E78E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624DD-4721-9A54-F4C7-2E46443B6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481385"/>
      </p:ext>
    </p:extLst>
  </p:cSld>
  <p:clrMapOvr>
    <a:masterClrMapping/>
  </p:clrMapOvr>
  <p:hf sldNum="0" hd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DE18D-0DA5-F31F-13E9-1313B31A2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2866C-869B-E3B3-9C04-867F5252D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61F7E-45A9-FA18-BB58-7C1265ADA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650F1-7962-918A-5AAC-FA334B42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0D6F6-38C7-6A15-CB0A-CBBCEAEE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45721"/>
      </p:ext>
    </p:extLst>
  </p:cSld>
  <p:clrMapOvr>
    <a:masterClrMapping/>
  </p:clrMapOvr>
  <p:hf sldNum="0" hd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●"/>
              <a:defRPr sz="1867">
                <a:latin typeface="Oxygen"/>
                <a:ea typeface="Oxygen"/>
                <a:cs typeface="Oxygen"/>
                <a:sym typeface="Oxygen"/>
              </a:defRPr>
            </a:lvl1pPr>
            <a:lvl2pPr marL="1219170" lvl="1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81BB66-375F-5BC9-900F-25BBD0E5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66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 /><Relationship Id="rId1" Type="http://schemas.openxmlformats.org/officeDocument/2006/relationships/slideLayout" Target="../slideLayouts/slideLayout32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 /><Relationship Id="rId13" Type="http://schemas.openxmlformats.org/officeDocument/2006/relationships/theme" Target="../theme/theme3.xml" /><Relationship Id="rId3" Type="http://schemas.openxmlformats.org/officeDocument/2006/relationships/slideLayout" Target="../slideLayouts/slideLayout35.xml" /><Relationship Id="rId7" Type="http://schemas.openxmlformats.org/officeDocument/2006/relationships/slideLayout" Target="../slideLayouts/slideLayout39.xml" /><Relationship Id="rId12" Type="http://schemas.openxmlformats.org/officeDocument/2006/relationships/slideLayout" Target="../slideLayouts/slideLayout44.xml" /><Relationship Id="rId2" Type="http://schemas.openxmlformats.org/officeDocument/2006/relationships/slideLayout" Target="../slideLayouts/slideLayout34.xml" /><Relationship Id="rId1" Type="http://schemas.openxmlformats.org/officeDocument/2006/relationships/slideLayout" Target="../slideLayouts/slideLayout33.xml" /><Relationship Id="rId6" Type="http://schemas.openxmlformats.org/officeDocument/2006/relationships/slideLayout" Target="../slideLayouts/slideLayout38.xml" /><Relationship Id="rId11" Type="http://schemas.openxmlformats.org/officeDocument/2006/relationships/slideLayout" Target="../slideLayouts/slideLayout43.xml" /><Relationship Id="rId5" Type="http://schemas.openxmlformats.org/officeDocument/2006/relationships/slideLayout" Target="../slideLayouts/slideLayout37.xml" /><Relationship Id="rId10" Type="http://schemas.openxmlformats.org/officeDocument/2006/relationships/slideLayout" Target="../slideLayouts/slideLayout42.xml" /><Relationship Id="rId4" Type="http://schemas.openxmlformats.org/officeDocument/2006/relationships/slideLayout" Target="../slideLayouts/slideLayout36.xml" /><Relationship Id="rId9" Type="http://schemas.openxmlformats.org/officeDocument/2006/relationships/slideLayout" Target="../slideLayouts/slideLayout4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iret One"/>
              <a:buNone/>
              <a:defRPr sz="28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Char char="●"/>
              <a:defRPr sz="1800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●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●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2298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26973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305CD-D535-9D1A-A4E4-B2822F731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48C39-C7B9-39A5-9C61-DEDA9D473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45B2B-FA5B-2347-AEA6-61698D4AB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224F7-8479-4F24-A0BE-3C6303723395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AF0D1-7213-98BD-1B24-D24602DAE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1CF8C-B98E-4472-FF70-49C31D945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DB3E4-0F9A-4F27-88C1-496099497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27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44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44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B6E4-0A5D-3762-C81D-6DD677CF6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Cafeteria Token System &amp; Queue ADT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6E02D-F3A7-72FF-619D-4E4F57531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CSA0310 - </a:t>
            </a:r>
            <a:r>
              <a:rPr lang="en-IN" dirty="0"/>
              <a:t>Data Structures</a:t>
            </a:r>
          </a:p>
          <a:p>
            <a:r>
              <a:rPr lang="en-IN" dirty="0"/>
              <a:t>Shree Thilak Muthukrishna </a:t>
            </a:r>
          </a:p>
          <a:p>
            <a:r>
              <a:rPr lang="en-IN" dirty="0"/>
              <a:t>192572046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114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451A2-9AC3-FF5A-ECBA-30CA767E5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High-traffic cafeteria environment with multiple customer arrivals.</a:t>
            </a:r>
          </a:p>
          <a:p>
            <a:r>
              <a:rPr lang="en-IN" b="1" dirty="0"/>
              <a:t>Core Challenges:</a:t>
            </a:r>
            <a:endParaRPr lang="en-IN" dirty="0"/>
          </a:p>
          <a:p>
            <a:pPr lvl="1"/>
            <a:r>
              <a:rPr lang="en-IN" dirty="0"/>
              <a:t>Preventing line-jumping and order disputes.</a:t>
            </a:r>
          </a:p>
          <a:p>
            <a:pPr lvl="1"/>
            <a:r>
              <a:rPr lang="en-IN" dirty="0"/>
              <a:t>Maintaining predictable waiting times for customers.</a:t>
            </a:r>
          </a:p>
          <a:p>
            <a:pPr lvl="1"/>
            <a:r>
              <a:rPr lang="en-IN" dirty="0"/>
              <a:t>Systematizing the order processing sequence without manual bias.</a:t>
            </a:r>
          </a:p>
          <a:p>
            <a:r>
              <a:rPr lang="en-IN" b="1" dirty="0"/>
              <a:t>Key Objective:</a:t>
            </a:r>
            <a:r>
              <a:rPr lang="en-IN" dirty="0"/>
              <a:t> Identify a data structure that guarantees absolute equity in customer service order.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89DE9-AE7F-2A08-9245-219018AF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Context &amp; Problem Statement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33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E46DC-29CA-9A20-CE09-7FB49D60F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Selected Data Structure:</a:t>
            </a:r>
            <a:r>
              <a:rPr lang="en-IN" dirty="0"/>
              <a:t> Queue Abstract Data Type (ADT)</a:t>
            </a:r>
          </a:p>
          <a:p>
            <a:r>
              <a:rPr lang="en-IN" b="1" dirty="0"/>
              <a:t>Governing Principle:</a:t>
            </a:r>
            <a:r>
              <a:rPr lang="en-IN" dirty="0"/>
              <a:t> First-In, First-Out (FIFO)</a:t>
            </a:r>
          </a:p>
          <a:p>
            <a:r>
              <a:rPr lang="en-IN" b="1" dirty="0"/>
              <a:t>Core Definition:</a:t>
            </a:r>
            <a:r>
              <a:rPr lang="en-IN" dirty="0"/>
              <a:t> A linear collection where elements are added strictly at one end (Rear) and removed strictly from the opposite end (Front).</a:t>
            </a:r>
          </a:p>
          <a:p>
            <a:r>
              <a:rPr lang="en-IN" b="1" dirty="0"/>
              <a:t>Direct Real-World Analogy:</a:t>
            </a:r>
            <a:r>
              <a:rPr lang="en-IN" dirty="0"/>
              <a:t> Token issuance matches the Rear insertion; order collection matches Front removal.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DFCE03-024A-CFE0-22FF-768BE514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Identification of Suitable ADT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264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43FC5-1D32-32F3-E23B-FD4A3A472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Linear Sequence:</a:t>
            </a:r>
            <a:r>
              <a:rPr lang="en-IN" dirty="0"/>
              <a:t> Maintains a strict 1D physical or logical ordering of elements based on time of entry.</a:t>
            </a:r>
          </a:p>
          <a:p>
            <a:r>
              <a:rPr lang="en-IN" b="1" dirty="0"/>
              <a:t>Dual Pointer Architecture:</a:t>
            </a:r>
            <a:endParaRPr lang="en-IN" dirty="0"/>
          </a:p>
          <a:p>
            <a:pPr lvl="1"/>
            <a:r>
              <a:rPr lang="en-IN" b="1" dirty="0"/>
              <a:t>Front Pointer:</a:t>
            </a:r>
            <a:r>
              <a:rPr lang="en-IN" dirty="0"/>
              <a:t> Points to the customer token currently eligible for service.</a:t>
            </a:r>
          </a:p>
          <a:p>
            <a:pPr lvl="1"/>
            <a:r>
              <a:rPr lang="en-IN" b="1" dirty="0"/>
              <a:t>Rear Pointer:</a:t>
            </a:r>
            <a:r>
              <a:rPr lang="en-IN" dirty="0"/>
              <a:t> Points to the location where the next arriving token will be appended.</a:t>
            </a:r>
          </a:p>
          <a:p>
            <a:r>
              <a:rPr lang="en-IN" b="1" dirty="0"/>
              <a:t>Restricted Access:</a:t>
            </a:r>
            <a:r>
              <a:rPr lang="en-IN" dirty="0"/>
              <a:t> Access to middle elements is strictly disallowed, preserving order integrity.</a:t>
            </a:r>
          </a:p>
          <a:p>
            <a:pPr marL="186262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1DA59-75E1-B404-28B9-608B2C837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Key Structural Properties of Queue ADT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095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BA592-0246-7738-8D7D-F44D1734C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Enqueue(token):</a:t>
            </a:r>
            <a:r>
              <a:rPr lang="en-IN" dirty="0"/>
              <a:t> Adds a new customer token to the Rear. Time Complexity: O(1)</a:t>
            </a:r>
          </a:p>
          <a:p>
            <a:r>
              <a:rPr lang="en-IN" b="1" dirty="0"/>
              <a:t>Dequeue():</a:t>
            </a:r>
            <a:r>
              <a:rPr lang="en-IN" dirty="0"/>
              <a:t> Removes and serves the token at the Front. Time Complexity: O(1)</a:t>
            </a:r>
          </a:p>
          <a:p>
            <a:r>
              <a:rPr lang="en-IN" b="1" dirty="0"/>
              <a:t>Peek() / Front():</a:t>
            </a:r>
            <a:r>
              <a:rPr lang="en-IN" dirty="0"/>
              <a:t> Returns the token currently at the counter without removing it. Time Complexity: O(1)</a:t>
            </a:r>
          </a:p>
          <a:p>
            <a:r>
              <a:rPr lang="en-IN" b="1" dirty="0" err="1"/>
              <a:t>isEmpty</a:t>
            </a:r>
            <a:r>
              <a:rPr lang="en-IN" b="1" dirty="0"/>
              <a:t>() / </a:t>
            </a:r>
            <a:r>
              <a:rPr lang="en-IN" b="1" dirty="0" err="1"/>
              <a:t>isFull</a:t>
            </a:r>
            <a:r>
              <a:rPr lang="en-IN" b="1" dirty="0"/>
              <a:t>():</a:t>
            </a:r>
            <a:r>
              <a:rPr lang="en-IN" dirty="0"/>
              <a:t> Helper operations to verify queue capacity states. Time Complexity: O(1)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F1DE5-DCDE-C6F3-E8B0-8B1CAA317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Core Operations &amp; Time Complexity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937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BFE81D0-8985-CDBF-4962-1A51DA62FE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Definition of Fairness:</a:t>
                </a:r>
                <a:r>
                  <a:rPr lang="en-IN" dirty="0"/>
                  <a:t> Service order is purely a function of arrival timestamp .</a:t>
                </a:r>
              </a:p>
              <a:p>
                <a:r>
                  <a:rPr lang="en-IN" b="1" dirty="0"/>
                  <a:t>Order Preservation Property:</a:t>
                </a:r>
                <a:r>
                  <a:rPr lang="en-IN" dirty="0"/>
                  <a:t> </a:t>
                </a:r>
              </a:p>
              <a:p>
                <a:endParaRPr lang="en-IN" dirty="0"/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IN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i="0" dirty="0">
                                  <a:latin typeface="Cambria Math" panose="02040503050406030204" pitchFamily="18" charset="0"/>
                                </a:rPr>
                                <m:t>Customer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IN" i="0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i="0" dirty="0">
                                  <a:latin typeface="Cambria Math" panose="02040503050406030204" pitchFamily="18" charset="0"/>
                                </a:rPr>
                                <m:t>Customer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IN" i="0" dirty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m:rPr>
                          <m:nor/>
                        </m:rPr>
                        <a:rPr lang="en-IN" i="0" dirty="0">
                          <a:latin typeface="Cambria Math" panose="02040503050406030204" pitchFamily="18" charset="0"/>
                        </a:rPr>
                        <m:t>Service</m:t>
                      </m:r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i="0" dirty="0">
                                  <a:latin typeface="Cambria Math" panose="02040503050406030204" pitchFamily="18" charset="0"/>
                                </a:rPr>
                                <m:t>Customer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i="0" dirty="0">
                          <a:latin typeface="Cambria Math" panose="02040503050406030204" pitchFamily="18" charset="0"/>
                        </a:rPr>
                        <m:t>precedes</m:t>
                      </m:r>
                      <m:r>
                        <m:rPr>
                          <m:nor/>
                        </m:rPr>
                        <a:rPr lang="en-IN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i="0" dirty="0">
                          <a:latin typeface="Cambria Math" panose="02040503050406030204" pitchFamily="18" charset="0"/>
                        </a:rPr>
                        <m:t>Service</m:t>
                      </m:r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i="0" dirty="0">
                                  <a:latin typeface="Cambria Math" panose="02040503050406030204" pitchFamily="18" charset="0"/>
                                </a:rPr>
                                <m:t>Customer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r>
                  <a:rPr lang="en-IN" b="1" dirty="0"/>
                  <a:t>Zero Starvation Guarantee:</a:t>
                </a:r>
                <a:r>
                  <a:rPr lang="en-IN" dirty="0"/>
                  <a:t> No element can be bypassed by subsequent insertions. Every token is processed in finite time relative to its position 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BFE81D0-8985-CDBF-4962-1A51DA62FE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BF5AC4C-1754-0039-B681-0E5C5875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Mathematical &amp; Algorithmic Justification of Fairness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53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424AD-7A10-692B-8222-6908FAA4A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Stack ADT (LIFO):</a:t>
            </a:r>
            <a:endParaRPr lang="en-IN" dirty="0"/>
          </a:p>
          <a:p>
            <a:pPr lvl="1"/>
            <a:r>
              <a:rPr lang="en-IN" dirty="0"/>
              <a:t>Last customer to arrive is served first.</a:t>
            </a:r>
          </a:p>
          <a:p>
            <a:pPr lvl="1"/>
            <a:r>
              <a:rPr lang="en-IN" dirty="0"/>
              <a:t>Leads to severe starvation for early arrivals; totally unacceptable for service systems.</a:t>
            </a:r>
          </a:p>
          <a:p>
            <a:r>
              <a:rPr lang="en-IN" b="1" dirty="0"/>
              <a:t>Priority Queue:</a:t>
            </a:r>
            <a:endParaRPr lang="en-IN" dirty="0"/>
          </a:p>
          <a:p>
            <a:pPr lvl="1"/>
            <a:r>
              <a:rPr lang="en-IN" dirty="0"/>
              <a:t>Serves higher priority first; causes low-priority customers to wait indefinitely.</a:t>
            </a:r>
          </a:p>
          <a:p>
            <a:pPr lvl="1"/>
            <a:r>
              <a:rPr lang="en-IN" dirty="0"/>
              <a:t>Not suitable when all customers have equal service rights.</a:t>
            </a:r>
          </a:p>
          <a:p>
            <a:r>
              <a:rPr lang="en-IN" b="1" dirty="0"/>
              <a:t>Unsorted Array/List:</a:t>
            </a:r>
            <a:endParaRPr lang="en-IN" dirty="0"/>
          </a:p>
          <a:p>
            <a:pPr lvl="1"/>
            <a:r>
              <a:rPr lang="en-IN" dirty="0"/>
              <a:t>Random access allows arbitrary processing, leading to human bias or linear lookup overhead.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9ADCE-3F2E-5A99-5AB2-ED654010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Why Alternative Data Structures Fail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683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B0C5025-B65D-F4DE-426B-7265504D48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Mechanism:</a:t>
                </a:r>
                <a:r>
                  <a:rPr lang="en-IN" dirty="0"/>
                  <a:t> Fixed-size array with wraparound logic using modulo arithmetic.</a:t>
                </a:r>
              </a:p>
              <a:p>
                <a:r>
                  <a:rPr lang="en-IN" b="1" dirty="0"/>
                  <a:t>Pointer Updates:</a:t>
                </a:r>
                <a:endParaRPr lang="en-IN" dirty="0"/>
              </a:p>
              <a:p>
                <a:pPr lvl="1"/>
                <a:r>
                  <a:rPr lang="en-IN" dirty="0"/>
                  <a:t>Enqueue: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rear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rear</m:t>
                        </m:r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IN" i="0" dirty="0" smtClean="0">
                        <a:latin typeface="Cambria Math" panose="02040503050406030204" pitchFamily="18" charset="0"/>
                      </a:rPr>
                      <m:t> 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Dequeue: Advantages: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 smtClean="0">
                        <a:latin typeface="Cambria Math" panose="02040503050406030204" pitchFamily="18" charset="0"/>
                      </a:rPr>
                      <m:t>front</m:t>
                    </m:r>
                    <m:r>
                      <a:rPr lang="en-IN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 smtClean="0">
                            <a:latin typeface="Cambria Math" panose="02040503050406030204" pitchFamily="18" charset="0"/>
                          </a:rPr>
                          <m:t>front</m:t>
                        </m:r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IN" i="0" smtClean="0">
                        <a:latin typeface="Cambria Math" panose="02040503050406030204" pitchFamily="18" charset="0"/>
                      </a:rPr>
                      <m:t> </m:t>
                    </m:r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IN" dirty="0"/>
                  <a:t>Memory efficient, no dynamic memory allocation overhead, cache friendly.</a:t>
                </a:r>
              </a:p>
              <a:p>
                <a:r>
                  <a:rPr lang="en-IN" b="1" dirty="0"/>
                  <a:t>Advantages:</a:t>
                </a:r>
                <a:r>
                  <a:rPr lang="en-IN" dirty="0"/>
                  <a:t> Memory efficient, no dynamic memory allocation overhead, cache friendly.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B0C5025-B65D-F4DE-426B-7265504D4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10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001A029-21ED-CBD1-BC1D-3553628F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Implementation Strategy 1 - Circular Array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38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B6567-0F48-EC90-36DB-A51263772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Dynamic node allocation using pointers. Pointer Roles:</a:t>
            </a:r>
          </a:p>
          <a:p>
            <a:r>
              <a:rPr lang="en-IN" dirty="0"/>
              <a:t>Head pointer tracks Front (Dequeue happens at Head in ).</a:t>
            </a:r>
          </a:p>
          <a:p>
            <a:r>
              <a:rPr lang="en-IN" dirty="0"/>
              <a:t>Tail pointer tracks Rear (Enqueue happens at Tail in ). Advantages: Dynamic capacity (no fixed size limit), no memory wastage from unused pre-allocated slots.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75344-6016-8AEB-9D4C-9FE6C5EA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Implementation Strategy 2 - Singly Linked List Mechanism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250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55C36-39BE-2359-E4EA-FA326FE23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Arrival: Customer arrives at kiosk </a:t>
            </a:r>
            <a:r>
              <a:rPr lang="en-IN" dirty="0" err="1"/>
              <a:t>Kiosk</a:t>
            </a:r>
            <a:r>
              <a:rPr lang="en-IN" dirty="0"/>
              <a:t> calls Enqueue().</a:t>
            </a:r>
          </a:p>
          <a:p>
            <a:r>
              <a:rPr lang="en-IN" dirty="0"/>
              <a:t>Buffer: Token advances towards the front as prior tokens dequeue.</a:t>
            </a:r>
          </a:p>
          <a:p>
            <a:r>
              <a:rPr lang="en-IN" dirty="0"/>
              <a:t>Counter Call: Counter display calls Peek() to display the active token number.</a:t>
            </a:r>
          </a:p>
          <a:p>
            <a:r>
              <a:rPr lang="en-IN" dirty="0"/>
              <a:t>Completion: Food served System executes Dequeue(), moving Front to 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7CCDD-C3FD-0E72-A1F3-B99B1053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Lifecycle of a Cafeteria Token (Step-by-Step)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719639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Aesthetic Slideshow by Slidesgo</Template>
  <TotalTime>53</TotalTime>
  <Words>617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Minimalist Aesthetic Slideshow by Slidesgo</vt:lpstr>
      <vt:lpstr>Slidesgo Final Pages</vt:lpstr>
      <vt:lpstr>Office Theme</vt:lpstr>
      <vt:lpstr>Cafeteria Token System &amp; Queue ADT</vt:lpstr>
      <vt:lpstr>Problem Context &amp; Problem Statement </vt:lpstr>
      <vt:lpstr>Identification of Suitable ADT </vt:lpstr>
      <vt:lpstr>Key Structural Properties of Queue ADT </vt:lpstr>
      <vt:lpstr>Core Operations &amp; Time Complexity </vt:lpstr>
      <vt:lpstr>Mathematical &amp; Algorithmic Justification of Fairness </vt:lpstr>
      <vt:lpstr>Why Alternative Data Structures Fail </vt:lpstr>
      <vt:lpstr>Implementation Strategy 1 - Circular Array </vt:lpstr>
      <vt:lpstr>Implementation Strategy 2 - Singly Linked List Mechanism </vt:lpstr>
      <vt:lpstr>Lifecycle of a Cafeteria Token (Step-by-Step)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Cafeteria Token System &amp; Queue ADT</dc:title>
  <dc:creator>Sir Thilak</dc:creator>
  <cp:lastModifiedBy>Sir Thilak</cp:lastModifiedBy>
  <cp:revision>3</cp:revision>
  <dcterms:created xsi:type="dcterms:W3CDTF">2026-07-27T02:51:19Z</dcterms:created>
  <dcterms:modified xsi:type="dcterms:W3CDTF">2026-07-27T05:13:32Z</dcterms:modified>
</cp:coreProperties>
</file>